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n.wikipedia.org/wiki/Heaviside_step_function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02/sim.5941" TargetMode="External" /><Relationship Id="rId3" Type="http://schemas.openxmlformats.org/officeDocument/2006/relationships/hyperlink" Target="https://doi.org/10.1198/016214506000001437" TargetMode="External" /><Relationship Id="rId4" Type="http://schemas.openxmlformats.org/officeDocument/2006/relationships/hyperlink" Target="https://doi.org/10.1175/1520-0434(2000)015&lt;0559:dotcrp&gt;2.0.co;2" TargetMode="External" /><Relationship Id="rId5" Type="http://schemas.openxmlformats.org/officeDocument/2006/relationships/hyperlink" Target="https://doi.org/10.1256/qj.05.235" TargetMode="External" /><Relationship Id="rId6" Type="http://schemas.openxmlformats.org/officeDocument/2006/relationships/hyperlink" Target="https://doi.org/10.1002/env.2176" TargetMode="External" /><Relationship Id="rId7" Type="http://schemas.openxmlformats.org/officeDocument/2006/relationships/hyperlink" Target="https://doi.org/10.1007/s11004-017-9709-7" TargetMode="External" /><Relationship Id="rId8" Type="http://schemas.openxmlformats.org/officeDocument/2006/relationships/hyperlink" Target="https://doi.org/10.1016/j.ijforecast.2015.12.004" TargetMode="External" /><Relationship Id="rId9" Type="http://schemas.openxmlformats.org/officeDocument/2006/relationships/hyperlink" Target="https://doi.org/10.1016/j.ijforecast.2021.10.009" TargetMode="External" /><Relationship Id="rId10" Type="http://schemas.openxmlformats.org/officeDocument/2006/relationships/hyperlink" Target="https://doi.org/10.1016/j.ijforecast.2021.11.001" TargetMode="External" /><Relationship Id="rId11" Type="http://schemas.openxmlformats.org/officeDocument/2006/relationships/hyperlink" Target="https://doi.org/10.1002/bimj.201500263" TargetMode="External" /><Relationship Id="rId12" Type="http://schemas.openxmlformats.org/officeDocument/2006/relationships/hyperlink" Target="https://doi.org/10.1371/journal.pcbi.1008618" TargetMode="External" /><Relationship Id="rId13" Type="http://schemas.openxmlformats.org/officeDocument/2006/relationships/hyperlink" Target="https://doi.org/10.1371/journal.pcbi.1011393" TargetMode="External" /><Relationship Id="rId14" Type="http://schemas.openxmlformats.org/officeDocument/2006/relationships/hyperlink" Target="https://doi.org/10.1073/pnas.1619938114" TargetMode="External" /><Relationship Id="rId15" Type="http://schemas.openxmlformats.org/officeDocument/2006/relationships/hyperlink" Target="https://doi.org/10.1016/j.ijforecast.2024.01.005" TargetMode="External" /><Relationship Id="rId16" Type="http://schemas.openxmlformats.org/officeDocument/2006/relationships/hyperlink" Target="https://doi.org/10.1201/9781315139470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Measuring Miscalibration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Dr. F.J. Rodenburg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Calibration accuracy</a:t>
            </a:r>
            <a:r>
              <a:rPr/>
              <a:t>: What do we mean by it?</a:t>
            </a:r>
          </a:p>
          <a:p>
            <a:pPr lvl="0" indent="-342900" marL="342900">
              <a:buAutoNum type="arabicPeriod"/>
            </a:pPr>
            <a:r>
              <a:rPr b="1"/>
              <a:t>Visual assessment</a:t>
            </a:r>
            <a:r>
              <a:rPr/>
              <a:t>: Quick, complete overview.</a:t>
            </a:r>
          </a:p>
          <a:p>
            <a:pPr lvl="0" indent="-342900" marL="342900">
              <a:buAutoNum type="arabicPeriod"/>
            </a:pPr>
            <a:r>
              <a:rPr b="1"/>
              <a:t>Numeric assessment</a:t>
            </a:r>
            <a:r>
              <a:rPr/>
              <a:t>: Quantifying miscalibration.</a:t>
            </a:r>
          </a:p>
          <a:p>
            <a:pPr lvl="0" indent="-342900" marL="342900">
              <a:buAutoNum type="arabicPeriod"/>
            </a:pPr>
            <a:r>
              <a:rPr b="1"/>
              <a:t>The end result</a:t>
            </a:r>
            <a:r>
              <a:rPr/>
              <a:t>: Towards a holistic view of risk.</a:t>
            </a:r>
            <a:br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Calibration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What do we mean by it?</a:t>
                </a:r>
              </a:p>
              <a:p>
                <a:pPr lvl="0"/>
                <a:r>
                  <a:rPr/>
                  <a:t>A well-calibrated model produces predicted probabilities that </a:t>
                </a:r>
                <a:r>
                  <a:rPr b="1"/>
                  <a:t>closely match true probabilities</a:t>
                </a:r>
                <a:r>
                  <a:rPr/>
                  <a:t> of events.</a:t>
                </a:r>
              </a:p>
              <a:p>
                <a:pPr lvl="0"/>
                <a:r>
                  <a:rPr/>
                  <a:t>For any predicted 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/>
                  <a:t>,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 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≈</m:t>
                      </m:r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Example: If a model predicts a probability of default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0.10</m:t>
                    </m:r>
                  </m:oMath>
                </a14:m>
                <a:r>
                  <a:rPr/>
                  <a:t> for a certain set of observations, then we expect around </a:t>
                </a:r>
                <a14:m>
                  <m:oMath xmlns:m="http://schemas.openxmlformats.org/officeDocument/2006/math">
                    <m:r>
                      <m:t>1</m:t>
                    </m:r>
                  </m:oMath>
                </a14:m>
                <a:r>
                  <a:rPr/>
                  <a:t> in </a:t>
                </a:r>
                <a14:m>
                  <m:oMath xmlns:m="http://schemas.openxmlformats.org/officeDocument/2006/math">
                    <m:r>
                      <m:t>10</m:t>
                    </m:r>
                  </m:oMath>
                </a14:m>
                <a:r>
                  <a:rPr/>
                  <a:t> such observations to actually default.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Calibration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i="1"/>
                  <a:t>What do we mean by it?</a:t>
                </a:r>
              </a:p>
              <a:p>
                <a:pPr lvl="0" indent="0" marL="0">
                  <a:buNone/>
                </a:pPr>
                <a:r>
                  <a:rPr/>
                  <a:t>How is that different from discrimination?</a:t>
                </a:r>
              </a:p>
              <a:p>
                <a:pPr lvl="0"/>
                <a:r>
                  <a:rPr b="1"/>
                  <a:t>Discrimination</a:t>
                </a:r>
                <a:r>
                  <a:rPr/>
                  <a:t> measures how well a model </a:t>
                </a:r>
                <a:r>
                  <a:rPr i="1"/>
                  <a:t>ranks</a:t>
                </a:r>
                <a:r>
                  <a:rPr/>
                  <a:t> risk: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&gt;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∀</m:t>
                      </m:r>
                      <m:r>
                        <m:t> </m:t>
                      </m:r>
                      <m:r>
                        <m:t>i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?</m:t>
                      </m:r>
                    </m:oMath>
                  </m:oMathPara>
                </a14:m>
              </a:p>
              <a:p>
                <a:pPr lvl="0"/>
                <a:r>
                  <a:rPr b="1"/>
                  <a:t>Calibration</a:t>
                </a:r>
                <a:r>
                  <a:rPr/>
                  <a:t> measures distance to the </a:t>
                </a:r>
                <a:r>
                  <a:rPr i="1"/>
                  <a:t>true</a:t>
                </a:r>
                <a:r>
                  <a:rPr/>
                  <a:t> risk: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p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≈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∀</m:t>
                      </m:r>
                      <m:r>
                        <m:t> </m:t>
                      </m:r>
                      <m:r>
                        <m:t>i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?</m:t>
                      </m:r>
                    </m:oMath>
                  </m:oMathPara>
                </a14:m>
              </a:p>
              <a:p>
                <a:pPr lvl="0"/>
                <a:r>
                  <a:rPr/>
                  <a:t>Discrimination can be easily expressed (e.g.,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-statistic, ROC curve, CAP curve). What about calibration?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Calibration curve</a:t>
            </a:r>
          </a:p>
          <a:p>
            <a:pPr lvl="1"/>
            <a:r>
              <a:rPr/>
              <a:t>Smooth function fitted over the range of predicted values</a:t>
            </a:r>
          </a:p>
          <a:p>
            <a:pPr lvl="1"/>
            <a:r>
              <a:rPr/>
              <a:t>Bootstrapped confidence band</a:t>
            </a:r>
          </a:p>
          <a:p>
            <a:pPr lvl="0"/>
            <a:r>
              <a:rPr/>
              <a:t>Goal:</a:t>
            </a:r>
          </a:p>
          <a:p>
            <a:pPr lvl="1"/>
            <a:r>
              <a:rPr/>
              <a:t>Reporting improvement (ease of use, ease of assessment)</a:t>
            </a:r>
          </a:p>
          <a:p>
            <a:pPr lvl="1"/>
            <a:r>
              <a:rPr/>
              <a:t>Complementary to numeric assessment.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Calibration curve (well-calibrated model):</a:t>
            </a:r>
          </a:p>
        </p:txBody>
      </p:sp>
      <p:pic>
        <p:nvPicPr>
          <p:cNvPr descr="Calibration_Feb2026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Optimism:</a:t>
            </a:r>
          </a:p>
        </p:txBody>
      </p:sp>
      <p:pic>
        <p:nvPicPr>
          <p:cNvPr descr="Calibration_Feb2026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Conservatism:</a:t>
            </a:r>
          </a:p>
        </p:txBody>
      </p:sp>
      <p:pic>
        <p:nvPicPr>
          <p:cNvPr descr="Calibration_Feb2026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Local miscalibration (at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≈</m:t>
                    </m:r>
                    <m:r>
                      <m:t>1.5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):</a:t>
                </a:r>
              </a:p>
            </p:txBody>
          </p:sp>
        </mc:Choice>
      </mc:AlternateContent>
      <p:pic>
        <p:nvPicPr>
          <p:cNvPr descr="Calibration_Feb2026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Summary:</a:t>
                </a:r>
              </a:p>
              <a:p>
                <a:pPr lvl="1"/>
                <a:r>
                  <a:rPr/>
                  <a:t>Efficient, easy-to-use assessment.</a:t>
                </a:r>
              </a:p>
              <a:p>
                <a:pPr lvl="1"/>
                <a:r>
                  <a:rPr/>
                  <a:t>Except for the curve-fitting procedure, no packages used!</a:t>
                </a:r>
              </a:p>
              <a:p>
                <a:pPr lvl="1"/>
                <a:r>
                  <a:rPr/>
                  <a:t>This is a complete manual implementation that can be easily translated to Python. (see implementation file)</a:t>
                </a:r>
              </a:p>
              <a:p>
                <a:pPr lvl="1"/>
                <a:r>
                  <a:rPr/>
                  <a:t>The curve uses an advanced model, but if no suitable Python alternative can be found, simpler LOESS-based smoothers are also common in literature.</a:t>
                </a:r>
                <a:r>
                  <a:rPr baseline="30000"/>
                  <a:t>1,2</a:t>
                </a:r>
                <a:r>
                  <a:rPr/>
                  <a:t>Penalized thin-plate spline logistic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</m:t>
                    </m:r>
                    <m:r>
                      <m:rPr>
                        <m:sty m:val="p"/>
                      </m:rPr>
                      <m:t>o</m:t>
                    </m:r>
                    <m:r>
                      <m:rPr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i</m:t>
                    </m:r>
                    <m:r>
                      <m:rPr>
                        <m:sty m:val="p"/>
                      </m:rPr>
                      <m:t>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rPr>
                                <m:sty m:val="p"/>
                              </m:rPr>
                              <m:t>p</m:t>
                            </m:r>
                          </m:e>
                        </m:acc>
                      </m:e>
                    </m:d>
                  </m:oMath>
                </a14:m>
                <a:r>
                  <a:rPr/>
                  <a:t> against the default ratio, using a generalized additive model (GAM). Justification for this model choice is included in the implementation file.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example, LGL model:</a:t>
            </a:r>
          </a:p>
        </p:txBody>
      </p:sp>
      <p:pic>
        <p:nvPicPr>
          <p:cNvPr descr="Calibration_Feb2026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Visual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examples in the implementation file.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How can we determine which model is closer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?</a:t>
                </a:r>
              </a:p>
              <a:p>
                <a:pPr lvl="1"/>
                <a:r>
                  <a:rPr b="1"/>
                  <a:t>Significance testing</a:t>
                </a:r>
                <a:r>
                  <a:rPr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⟹</m:t>
                    </m:r>
                  </m:oMath>
                </a14:m>
                <a:r>
                  <a:rPr/>
                  <a:t> detects miscalibration </a:t>
                </a:r>
                <a:r>
                  <a:rPr i="1"/>
                  <a:t>(yes/no)</a:t>
                </a:r>
              </a:p>
              <a:p>
                <a:pPr lvl="2"/>
                <a:r>
                  <a:rPr/>
                  <a:t>…but </a:t>
                </a:r>
                <a:r>
                  <a:rPr i="1"/>
                  <a:t>non</a:t>
                </a:r>
                <a:r>
                  <a:rPr/>
                  <a:t>-significant does not mean well-calibrated,</a:t>
                </a:r>
              </a:p>
              <a:p>
                <a:pPr lvl="2"/>
                <a:r>
                  <a:rPr/>
                  <a:t>…and </a:t>
                </a:r>
                <a:r>
                  <a:rPr i="1"/>
                  <a:t>significant</a:t>
                </a:r>
                <a:r>
                  <a:rPr/>
                  <a:t> does not tell </a:t>
                </a:r>
                <a:r>
                  <a:rPr i="1"/>
                  <a:t>how</a:t>
                </a:r>
                <a:r>
                  <a:rPr/>
                  <a:t> miscalibrated!</a:t>
                </a:r>
              </a:p>
              <a:p>
                <a:pPr lvl="1"/>
                <a:r>
                  <a:rPr b="1"/>
                  <a:t>Proportion</a:t>
                </a:r>
                <a:r>
                  <a:rPr/>
                  <a:t> of grades/observations?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⟹</m:t>
                    </m:r>
                  </m:oMath>
                </a14:m>
                <a:r>
                  <a:rPr/>
                  <a:t> shows how widespread it is </a:t>
                </a:r>
                <a:r>
                  <a:rPr i="1"/>
                  <a:t>(prevalence)</a:t>
                </a:r>
              </a:p>
              <a:p>
                <a:pPr lvl="2"/>
                <a:r>
                  <a:rPr/>
                  <a:t>…but a low </a:t>
                </a:r>
                <a:r>
                  <a:rPr i="1"/>
                  <a:t>proportion</a:t>
                </a:r>
                <a:r>
                  <a:rPr/>
                  <a:t> can still be problematic,</a:t>
                </a:r>
              </a:p>
              <a:p>
                <a:pPr lvl="2"/>
                <a:r>
                  <a:rPr/>
                  <a:t>…and 100% miscalibrated, still doesn’t tell how much!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Neither significance, nor prevalence indicate </a:t>
                </a:r>
                <a:r>
                  <a:rPr b="1"/>
                  <a:t>magnitude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To assess </a:t>
                </a:r>
                <a:r>
                  <a:rPr i="1"/>
                  <a:t>magnitude</a:t>
                </a:r>
                <a:r>
                  <a:rPr/>
                  <a:t> of miscalibration, a measure must reflect how far we are from perfect calibration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/>
                  <a:t>A measure optimized this way is a </a:t>
                </a:r>
                <a:r>
                  <a:rPr b="1"/>
                  <a:t>proper scoring rule</a:t>
                </a:r>
                <a:r>
                  <a:rPr/>
                  <a:t>.</a:t>
                </a:r>
                <a:r>
                  <a:rPr baseline="30000"/>
                  <a:t>3</a:t>
                </a:r>
              </a:p>
              <a:p>
                <a:pPr lvl="0"/>
                <a:r>
                  <a:rPr/>
                  <a:t>If its optimum is unique, it is </a:t>
                </a:r>
                <a:r>
                  <a:rPr b="1"/>
                  <a:t>strictly proper</a:t>
                </a:r>
                <a:r>
                  <a:rPr/>
                  <a:t>.</a:t>
                </a:r>
              </a:p>
              <a:p>
                <a:pPr lvl="0"/>
                <a:r>
                  <a:rPr/>
                  <a:t>Strictly proper scoring rules are the gold standard, as they </a:t>
                </a:r>
                <a:r>
                  <a:rPr b="1"/>
                  <a:t>cannot be improved by moving to suboptimal predictions</a:t>
                </a:r>
                <a:r>
                  <a:rPr/>
                  <a:t>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Strictly proper scoring rules for </a:t>
            </a:r>
            <a:r>
              <a:rPr b="1"/>
              <a:t>binary</a:t>
            </a:r>
            <a:r>
              <a:rPr/>
              <a:t> outcomes: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Strictly proper scoring rules for </a:t>
                </a:r>
                <a:r>
                  <a:rPr b="1"/>
                  <a:t>binary</a:t>
                </a:r>
                <a:r>
                  <a:rPr/>
                  <a:t> outcomes:</a:t>
                </a:r>
              </a:p>
              <a:p>
                <a:pPr lvl="0" indent="0" marL="0">
                  <a:buNone/>
                </a:pPr>
                <a:r>
                  <a:rPr/>
                  <a:t>Score</a:t>
                </a:r>
              </a:p>
              <a:p>
                <a:pPr lvl="0" indent="0" marL="0">
                  <a:buNone/>
                </a:pPr>
                <a:r>
                  <a:rPr/>
                  <a:t>Equation</a:t>
                </a:r>
              </a:p>
              <a:p>
                <a:pPr lvl="0" indent="0" marL="0">
                  <a:buNone/>
                </a:pPr>
                <a:r>
                  <a:rPr/>
                  <a:t>Justification</a:t>
                </a:r>
              </a:p>
              <a:p>
                <a:pPr lvl="0" indent="0" marL="0">
                  <a:buNone/>
                </a:pPr>
                <a:r>
                  <a:rPr/>
                  <a:t>Log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p</m:t>
                                </m:r>
                              </m:e>
                            </m:acc>
                          </m:e>
                          <m:sub>
                            <m:r>
                              <m:t>y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/>
                  <a:t>Heavily penalizes overconfident predictions near the boundary.</a:t>
                </a:r>
              </a:p>
              <a:p>
                <a:pPr lvl="0" indent="0" marL="0">
                  <a:buNone/>
                </a:pPr>
                <a:r>
                  <a:rPr/>
                  <a:t>Brier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y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p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 indent="0" marL="0">
                  <a:buNone/>
                </a:pPr>
                <a:r>
                  <a:rPr/>
                  <a:t>Neutral penalization of errors across values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Spherical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p</m:t>
                                </m:r>
                              </m:e>
                            </m:acc>
                          </m:e>
                          <m:sub>
                            <m:r>
                              <m:t>y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/>
                        </m:d>
                        <m:acc>
                          <m:accPr>
                            <m:chr m:val="̂"/>
                          </m:accPr>
                          <m:e>
                            <m:r>
                              <m:rPr>
                                <m:sty m:val="b"/>
                              </m:rPr>
                              <m:t>p</m:t>
                            </m:r>
                          </m:e>
                        </m:acc>
                        <m:sSub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</m:dPr>
                              <m:e/>
                            </m:d>
                          </m:e>
                          <m:sub>
                            <m:r>
                              <m:t>2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Less intuitive, but rewards sharp predictions near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Strictly proper scoring rules for </a:t>
            </a:r>
            <a:r>
              <a:rPr b="1"/>
              <a:t>non-binary</a:t>
            </a:r>
            <a:r>
              <a:rPr/>
              <a:t> outcomes: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Strictly proper scoring rules for </a:t>
                </a:r>
                <a:r>
                  <a:rPr b="1"/>
                  <a:t>non-binary</a:t>
                </a:r>
                <a:r>
                  <a:rPr/>
                  <a:t> outcomes:</a:t>
                </a:r>
              </a:p>
              <a:p>
                <a:pPr lvl="0" indent="0" marL="0">
                  <a:buNone/>
                </a:pPr>
                <a:r>
                  <a:rPr/>
                  <a:t>Score</a:t>
                </a:r>
              </a:p>
              <a:p>
                <a:pPr lvl="0" indent="0" marL="0">
                  <a:buNone/>
                </a:pPr>
                <a:r>
                  <a:rPr/>
                  <a:t>Equation</a:t>
                </a:r>
              </a:p>
              <a:p>
                <a:pPr lvl="0" indent="0" marL="0">
                  <a:buNone/>
                </a:pPr>
                <a:r>
                  <a:rPr/>
                  <a:t>Justification</a:t>
                </a:r>
              </a:p>
              <a:p>
                <a:pPr lvl="0" indent="0" marL="0">
                  <a:buNone/>
                </a:pPr>
                <a:r>
                  <a:rPr/>
                  <a:t>Log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y</m:t>
                            </m:r>
                          </m:e>
                        </m:d>
                      </m:e>
                    </m:d>
                  </m:oMath>
                </a14:m>
              </a:p>
              <a:p>
                <a:pPr lvl="0" indent="0" marL="0">
                  <a:buNone/>
                </a:pPr>
                <a:r>
                  <a:rPr/>
                  <a:t>Same as binary.</a:t>
                </a:r>
              </a:p>
              <a:p>
                <a:pPr lvl="0" indent="0" marL="0">
                  <a:buNone/>
                </a:pPr>
                <a:r>
                  <a:rPr/>
                  <a:t>CRPS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∫</m:t>
                      </m:r>
                      <m:r>
                        <m:t>​</m:t>
                      </m:r>
                      <m:r>
                        <m:t>​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</m:e>
                      </m:d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d</m:t>
                      </m:r>
                      <m:r>
                        <m:t>x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Generalization of Brier score. Rewards sharp predictions near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i="1"/>
                  <a:t>(Note: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</a:t>
                </a:r>
                <a:r>
                  <a:rPr i="1"/>
                  <a:t>is the (implied) PDF of the prediction at</a:t>
                </a:r>
                <a:r>
                  <a:rPr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p</m:t>
                        </m:r>
                      </m:e>
                    </m:acc>
                  </m:oMath>
                </a14:m>
                <a:r>
                  <a:rPr i="1"/>
                  <a:t>,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</a:t>
                </a:r>
                <a:r>
                  <a:rPr i="1"/>
                  <a:t>its CDF.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</a:t>
                </a:r>
                <a:r>
                  <a:rPr i="1"/>
                  <a:t>is the </a:t>
                </a:r>
                <a:r>
                  <a:rPr i="1">
                    <a:hlinkClick r:id="rId2"/>
                  </a:rPr>
                  <a:t>Heaviside step function</a:t>
                </a:r>
                <a:r>
                  <a:rPr i="1"/>
                  <a:t>.)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Continuous ranked probability score (CRPS):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CRPS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F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y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∫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y</m:t>
                                </m:r>
                              </m:e>
                            </m: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 </m:t>
                            </m:r>
                            <m:r>
                              <m:t>d</m:t>
                            </m:r>
                            <m:r>
                              <m:t>x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t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{"/>
                                <m:sepChr m:val=""/>
                                <m:endChr m:val=""/>
                                <m:grow/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mcJc m:val="left"/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mcJc m:val="left"/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m:t>0</m:t>
                                      </m:r>
                                    </m:e>
                                    <m:e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&lt;</m:t>
                                      </m:r>
                                      <m:r>
                                        <m:t>0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t>1</m:t>
                                      </m:r>
                                    </m:e>
                                    <m:e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≥</m:t>
                                      </m:r>
                                      <m:r>
                                        <m:t>0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.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What does that look like? (example, beta-regression for LGD)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libration_Feb2026_files/figure-pptx/unnamed-chunk-1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Continuous ranked probability score (CRPS) </a:t>
            </a:r>
            <a:r>
              <a:rPr b="1"/>
              <a:t>rewards</a:t>
            </a:r>
            <a:r>
              <a:rPr/>
              <a:t>:</a:t>
            </a:r>
          </a:p>
          <a:p>
            <a:pPr lvl="1"/>
            <a:r>
              <a:rPr/>
              <a:t>Being centered around the observed value</a:t>
            </a:r>
          </a:p>
          <a:p>
            <a:pPr lvl="1"/>
            <a:r>
              <a:rPr/>
              <a:t>Being confident (when correct)</a:t>
            </a:r>
          </a:p>
          <a:p>
            <a:pPr lvl="0"/>
            <a:r>
              <a:rPr/>
              <a:t>Conversely, CRPS </a:t>
            </a:r>
            <a:r>
              <a:rPr b="1"/>
              <a:t>penalizes</a:t>
            </a:r>
            <a:r>
              <a:rPr/>
              <a:t>:</a:t>
            </a:r>
          </a:p>
          <a:p>
            <a:pPr lvl="1"/>
            <a:r>
              <a:rPr/>
              <a:t>Being centered around a different value</a:t>
            </a:r>
          </a:p>
          <a:p>
            <a:pPr lvl="1"/>
            <a:r>
              <a:rPr/>
              <a:t>Being confident (when wrong)</a:t>
            </a:r>
          </a:p>
          <a:p>
            <a:pPr lvl="1"/>
            <a:r>
              <a:rPr/>
              <a:t>Being too careful (diffuse predicted distribution)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CRPS is used extensively across many fields:</a:t>
            </a:r>
          </a:p>
          <a:p>
            <a:pPr lvl="1"/>
            <a:r>
              <a:rPr/>
              <a:t>Weather forecasting,</a:t>
            </a:r>
            <a:r>
              <a:rPr baseline="30000"/>
              <a:t>4–7</a:t>
            </a:r>
          </a:p>
          <a:p>
            <a:pPr lvl="1"/>
            <a:r>
              <a:rPr/>
              <a:t>Retail demand forecasting,</a:t>
            </a:r>
            <a:r>
              <a:rPr baseline="30000"/>
              <a:t>8–10</a:t>
            </a:r>
          </a:p>
          <a:p>
            <a:pPr lvl="1"/>
            <a:r>
              <a:rPr/>
              <a:t>Epidemiological models,</a:t>
            </a:r>
            <a:r>
              <a:rPr baseline="30000"/>
              <a:t>11–13</a:t>
            </a:r>
          </a:p>
          <a:p>
            <a:pPr lvl="1"/>
            <a:r>
              <a:rPr/>
              <a:t>Energy demand,</a:t>
            </a:r>
            <a:r>
              <a:rPr baseline="30000"/>
              <a:t>14,15</a:t>
            </a:r>
          </a:p>
          <a:p>
            <a:pPr lvl="1"/>
            <a:r>
              <a:rPr/>
              <a:t>…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Summary:</a:t>
            </a:r>
          </a:p>
          <a:p>
            <a:pPr lvl="1"/>
            <a:r>
              <a:rPr/>
              <a:t>A measure optimized in expectation by approaching perfect calibration is called a </a:t>
            </a:r>
            <a:r>
              <a:rPr b="1"/>
              <a:t>proper scoring rule</a:t>
            </a:r>
            <a:r>
              <a:rPr/>
              <a:t>.</a:t>
            </a:r>
          </a:p>
          <a:p>
            <a:pPr lvl="1"/>
            <a:r>
              <a:rPr/>
              <a:t>If its optimum is unique, it is </a:t>
            </a:r>
            <a:r>
              <a:rPr b="1"/>
              <a:t>strictly proper</a:t>
            </a:r>
            <a:r>
              <a:rPr/>
              <a:t>.</a:t>
            </a:r>
          </a:p>
          <a:p>
            <a:pPr lvl="1"/>
            <a:r>
              <a:rPr/>
              <a:t>This is the gold standard for measuring calibration.</a:t>
            </a:r>
          </a:p>
          <a:p>
            <a:pPr lvl="1"/>
            <a:r>
              <a:rPr/>
              <a:t>For binary outcomes (PD, CR), the log score can be used.</a:t>
            </a:r>
          </a:p>
          <a:p>
            <a:pPr lvl="1"/>
            <a:r>
              <a:rPr/>
              <a:t>For non-binary outcomes (LGL, final LGD, EAD), the gold standard is a full distributional scoring rule, like CRPS.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Numeric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Summary:</a:t>
            </a:r>
          </a:p>
          <a:p>
            <a:pPr lvl="1"/>
            <a:r>
              <a:rPr/>
              <a:t>CRPS rewards </a:t>
            </a:r>
            <a:r>
              <a:rPr i="1"/>
              <a:t>calibration</a:t>
            </a:r>
            <a:r>
              <a:rPr/>
              <a:t> and </a:t>
            </a:r>
            <a:r>
              <a:rPr i="1"/>
              <a:t>sharpness</a:t>
            </a:r>
            <a:r>
              <a:rPr/>
              <a:t>.</a:t>
            </a:r>
          </a:p>
          <a:p>
            <a:pPr lvl="1"/>
            <a:r>
              <a:rPr/>
              <a:t>Requires a known CDF, an underlying distribution.</a:t>
            </a:r>
          </a:p>
          <a:p>
            <a:pPr lvl="1"/>
            <a:r>
              <a:rPr/>
              <a:t>Beta regression for LGL, zero-inflated beta for final LGD…</a:t>
            </a:r>
          </a:p>
          <a:p>
            <a:pPr lvl="0"/>
            <a:r>
              <a:rPr/>
              <a:t>What if a model has no distribution (e.g., decision tree)?</a:t>
            </a:r>
          </a:p>
          <a:p>
            <a:pPr lvl="1"/>
            <a:r>
              <a:rPr/>
              <a:t>These can be converted into a probabilistic forecast.</a:t>
            </a:r>
            <a:r>
              <a:rPr baseline="30000"/>
              <a:t>16,17</a:t>
            </a:r>
          </a:p>
          <a:p>
            <a:pPr lvl="1"/>
            <a:r>
              <a:rPr/>
              <a:t>More work, requires data used in model development.</a:t>
            </a:r>
          </a:p>
          <a:p>
            <a:pPr lvl="1"/>
            <a:r>
              <a:rPr/>
              <a:t>However, only needs to be done </a:t>
            </a:r>
            <a:r>
              <a:rPr b="1"/>
              <a:t>once</a:t>
            </a:r>
            <a:r>
              <a:rPr/>
              <a:t> and can be reused.</a:t>
            </a:r>
          </a:p>
          <a:p>
            <a:pPr lvl="1"/>
            <a:r>
              <a:rPr/>
              <a:t>See example implementation. (presentation folder)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The end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Calibration curve with correlation-adjusted strictly proper scoring rules.</a:t>
            </a:r>
          </a:p>
        </p:txBody>
      </p:sp>
      <p:pic>
        <p:nvPicPr>
          <p:cNvPr descr="Calibration_Feb2026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Record-weighted:
 - Brier score (lower is better): 0.100 (0.087, 0.114)
 - Log score (higher is better): -0.340 (-0.381, -0.306)
Client-weighted:
 - Brier score (lower is better): 0.103 (0.090, 0.115)
 - Log score (higher is better): -0.350 (-0.383, -0.315)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Austin, P. C. &amp; Steyerberg, E. W. </a:t>
            </a:r>
            <a:r>
              <a:rPr>
                <a:hlinkClick r:id="rId2"/>
              </a:rPr>
              <a:t>Graphical assessment of internal and external calibration of logistic regression models by using loess smoothers</a:t>
            </a:r>
            <a:r>
              <a:rPr/>
              <a:t>. </a:t>
            </a:r>
            <a:r>
              <a:rPr i="1"/>
              <a:t>Statistics in Medicine</a:t>
            </a:r>
            <a:r>
              <a:rPr/>
              <a:t> </a:t>
            </a:r>
            <a:r>
              <a:rPr b="1"/>
              <a:t>33</a:t>
            </a:r>
            <a:r>
              <a:rPr/>
              <a:t>, 517–535 (2013).</a:t>
            </a:r>
          </a:p>
          <a:p>
            <a:pPr lvl="0" indent="0" marL="0">
              <a:buNone/>
            </a:pPr>
            <a:r>
              <a:rPr/>
              <a:t>2. Harrell, F. E. </a:t>
            </a:r>
            <a:r>
              <a:rPr i="1"/>
              <a:t>Regression modeling strategies</a:t>
            </a:r>
            <a:r>
              <a:rPr/>
              <a:t>. (Springer International Publishing, 2015).</a:t>
            </a:r>
          </a:p>
          <a:p>
            <a:pPr lvl="0" indent="0" marL="0">
              <a:buNone/>
            </a:pPr>
            <a:r>
              <a:rPr/>
              <a:t>3. Gneiting, T. &amp; Raftery, A. E. </a:t>
            </a:r>
            <a:r>
              <a:rPr>
                <a:hlinkClick r:id="rId3"/>
              </a:rPr>
              <a:t>Strictly Proper Scoring Rules, Prediction, and Estimation</a:t>
            </a:r>
            <a:r>
              <a:rPr/>
              <a:t>. </a:t>
            </a:r>
            <a:r>
              <a:rPr i="1"/>
              <a:t>Journal of the American Statistical Association</a:t>
            </a:r>
            <a:r>
              <a:rPr/>
              <a:t> </a:t>
            </a:r>
            <a:r>
              <a:rPr b="1"/>
              <a:t>102</a:t>
            </a:r>
            <a:r>
              <a:rPr/>
              <a:t>, 359–378 (2007).</a:t>
            </a:r>
          </a:p>
          <a:p>
            <a:pPr lvl="0" indent="0" marL="0">
              <a:buNone/>
            </a:pPr>
            <a:r>
              <a:rPr/>
              <a:t>4. Hersbach, H. </a:t>
            </a:r>
            <a:r>
              <a:rPr>
                <a:hlinkClick r:id="rId4"/>
              </a:rPr>
              <a:t>Decomposition of the Continuous Ranked Probability Score for Ensemble Prediction Systems</a:t>
            </a:r>
            <a:r>
              <a:rPr/>
              <a:t>. </a:t>
            </a:r>
            <a:r>
              <a:rPr i="1"/>
              <a:t>Weather and Forecasting</a:t>
            </a:r>
            <a:r>
              <a:rPr/>
              <a:t> </a:t>
            </a:r>
            <a:r>
              <a:rPr b="1"/>
              <a:t>15</a:t>
            </a:r>
            <a:r>
              <a:rPr/>
              <a:t>, 559–570 (2000).</a:t>
            </a:r>
          </a:p>
          <a:p>
            <a:pPr lvl="0" indent="0" marL="0">
              <a:buNone/>
            </a:pPr>
            <a:r>
              <a:rPr/>
              <a:t>5. Grimit, E. P., Gneiting, T., Berrocal, V. J. &amp; Johnson, N. A. </a:t>
            </a:r>
            <a:r>
              <a:rPr>
                <a:hlinkClick r:id="rId5"/>
              </a:rPr>
              <a:t>The continuous ranked probability score for circular variables and its application to mesoscale forecast ensemble verification</a:t>
            </a:r>
            <a:r>
              <a:rPr/>
              <a:t>. </a:t>
            </a:r>
            <a:r>
              <a:rPr i="1"/>
              <a:t>Quarterly Journal of the Royal Meteorological Society</a:t>
            </a:r>
            <a:r>
              <a:rPr/>
              <a:t> </a:t>
            </a:r>
            <a:r>
              <a:rPr b="1"/>
              <a:t>132</a:t>
            </a:r>
            <a:r>
              <a:rPr/>
              <a:t>, 2925–2942 (2006).</a:t>
            </a:r>
          </a:p>
          <a:p>
            <a:pPr lvl="0" indent="0" marL="0">
              <a:buNone/>
            </a:pPr>
            <a:r>
              <a:rPr/>
              <a:t>6. Friederichs, P. &amp; Thorarinsdottir, T. L. </a:t>
            </a:r>
            <a:r>
              <a:rPr>
                <a:hlinkClick r:id="rId6"/>
              </a:rPr>
              <a:t>Forecast verification for extreme value distributions with an application to probabilistic peak wind prediction</a:t>
            </a:r>
            <a:r>
              <a:rPr/>
              <a:t>. </a:t>
            </a:r>
            <a:r>
              <a:rPr i="1"/>
              <a:t>Environmetrics</a:t>
            </a:r>
            <a:r>
              <a:rPr/>
              <a:t> </a:t>
            </a:r>
            <a:r>
              <a:rPr b="1"/>
              <a:t>23</a:t>
            </a:r>
            <a:r>
              <a:rPr/>
              <a:t>, 579–594 (2012).</a:t>
            </a:r>
          </a:p>
          <a:p>
            <a:pPr lvl="0" indent="0" marL="0">
              <a:buNone/>
            </a:pPr>
            <a:r>
              <a:rPr/>
              <a:t>7. Zamo, M. &amp; Naveau, P. </a:t>
            </a:r>
            <a:r>
              <a:rPr>
                <a:hlinkClick r:id="rId7"/>
              </a:rPr>
              <a:t>Estimation of the Continuous Ranked Probability Score with Limited Information and Applications to Ensemble Weather Forecasts</a:t>
            </a:r>
            <a:r>
              <a:rPr/>
              <a:t>. </a:t>
            </a:r>
            <a:r>
              <a:rPr i="1"/>
              <a:t>Mathematical Geosciences</a:t>
            </a:r>
            <a:r>
              <a:rPr/>
              <a:t> </a:t>
            </a:r>
            <a:r>
              <a:rPr b="1"/>
              <a:t>50</a:t>
            </a:r>
            <a:r>
              <a:rPr/>
              <a:t>, 209–234 (2017).</a:t>
            </a:r>
          </a:p>
          <a:p>
            <a:pPr lvl="0" indent="0" marL="0">
              <a:buNone/>
            </a:pPr>
            <a:r>
              <a:rPr/>
              <a:t>8. Kolassa, S. </a:t>
            </a:r>
            <a:r>
              <a:rPr>
                <a:hlinkClick r:id="rId8"/>
              </a:rPr>
              <a:t>Evaluating predictive count data distributions in retail sales forecasting</a:t>
            </a:r>
            <a:r>
              <a:rPr/>
              <a:t>. </a:t>
            </a:r>
            <a:r>
              <a:rPr i="1"/>
              <a:t>International Journal of Forecasting</a:t>
            </a:r>
            <a:r>
              <a:rPr/>
              <a:t> </a:t>
            </a:r>
            <a:r>
              <a:rPr b="1"/>
              <a:t>32</a:t>
            </a:r>
            <a:r>
              <a:rPr/>
              <a:t>, 788–803 (2016).</a:t>
            </a:r>
          </a:p>
          <a:p>
            <a:pPr lvl="0" indent="0" marL="0">
              <a:buNone/>
            </a:pPr>
            <a:r>
              <a:rPr/>
              <a:t>9. Makridakis, S. </a:t>
            </a:r>
            <a:r>
              <a:rPr i="1"/>
              <a:t>et al.</a:t>
            </a:r>
            <a:r>
              <a:rPr/>
              <a:t> </a:t>
            </a:r>
            <a:r>
              <a:rPr>
                <a:hlinkClick r:id="rId9"/>
              </a:rPr>
              <a:t>The M5 uncertainty competition: Results, findings and conclusions</a:t>
            </a:r>
            <a:r>
              <a:rPr/>
              <a:t>. </a:t>
            </a:r>
            <a:r>
              <a:rPr i="1"/>
              <a:t>International Journal of Forecasting</a:t>
            </a:r>
            <a:r>
              <a:rPr/>
              <a:t> </a:t>
            </a:r>
            <a:r>
              <a:rPr b="1"/>
              <a:t>38</a:t>
            </a:r>
            <a:r>
              <a:rPr/>
              <a:t>, 1365–1385 (2022).</a:t>
            </a:r>
          </a:p>
          <a:p>
            <a:pPr lvl="0" indent="0" marL="0">
              <a:buNone/>
            </a:pPr>
            <a:r>
              <a:rPr/>
              <a:t>10. Petropoulos, F. </a:t>
            </a:r>
            <a:r>
              <a:rPr i="1"/>
              <a:t>et al.</a:t>
            </a:r>
            <a:r>
              <a:rPr/>
              <a:t> </a:t>
            </a:r>
            <a:r>
              <a:rPr>
                <a:hlinkClick r:id="rId10"/>
              </a:rPr>
              <a:t>Forecasting: theory and practice</a:t>
            </a:r>
            <a:r>
              <a:rPr/>
              <a:t>. </a:t>
            </a:r>
            <a:r>
              <a:rPr i="1"/>
              <a:t>International Journal of Forecasting</a:t>
            </a:r>
            <a:r>
              <a:rPr/>
              <a:t> </a:t>
            </a:r>
            <a:r>
              <a:rPr b="1"/>
              <a:t>38</a:t>
            </a:r>
            <a:r>
              <a:rPr/>
              <a:t>, 705–871 (2022).</a:t>
            </a:r>
          </a:p>
          <a:p>
            <a:pPr lvl="0" indent="0" marL="0">
              <a:buNone/>
            </a:pPr>
            <a:r>
              <a:rPr/>
              <a:t>11. Riebler, A. &amp; Held, L. </a:t>
            </a:r>
            <a:r>
              <a:rPr>
                <a:hlinkClick r:id="rId11"/>
              </a:rPr>
              <a:t>Projecting the future burden of cancer: Bayesian ageperiodcohort analysis with integrated nested Laplace approximations</a:t>
            </a:r>
            <a:r>
              <a:rPr/>
              <a:t>. </a:t>
            </a:r>
            <a:r>
              <a:rPr i="1"/>
              <a:t>Biometrical Journal</a:t>
            </a:r>
            <a:r>
              <a:rPr/>
              <a:t> </a:t>
            </a:r>
            <a:r>
              <a:rPr b="1"/>
              <a:t>59</a:t>
            </a:r>
            <a:r>
              <a:rPr/>
              <a:t>, 531–549 (2017).</a:t>
            </a:r>
          </a:p>
          <a:p>
            <a:pPr lvl="0" indent="0" marL="0">
              <a:buNone/>
            </a:pPr>
            <a:r>
              <a:rPr/>
              <a:t>12. Bracher, J., Ray, E. L., Gneiting, T. &amp; Reich, N. G. </a:t>
            </a:r>
            <a:r>
              <a:rPr>
                <a:hlinkClick r:id="rId12"/>
              </a:rPr>
              <a:t>Evaluating epidemic forecasts in an interval format</a:t>
            </a:r>
            <a:r>
              <a:rPr/>
              <a:t>. </a:t>
            </a:r>
            <a:r>
              <a:rPr i="1"/>
              <a:t>PLOS Computational Biology</a:t>
            </a:r>
            <a:r>
              <a:rPr/>
              <a:t> </a:t>
            </a:r>
            <a:r>
              <a:rPr b="1"/>
              <a:t>17</a:t>
            </a:r>
            <a:r>
              <a:rPr/>
              <a:t>, e1008618 (2021).</a:t>
            </a:r>
          </a:p>
          <a:p>
            <a:pPr lvl="0" indent="0" marL="0">
              <a:buNone/>
            </a:pPr>
            <a:r>
              <a:rPr/>
              <a:t>13. Bosse, N. I. </a:t>
            </a:r>
            <a:r>
              <a:rPr i="1"/>
              <a:t>et al.</a:t>
            </a:r>
            <a:r>
              <a:rPr/>
              <a:t> </a:t>
            </a:r>
            <a:r>
              <a:rPr>
                <a:hlinkClick r:id="rId13"/>
              </a:rPr>
              <a:t>Scoring epidemiological forecasts on transformed scales</a:t>
            </a:r>
            <a:r>
              <a:rPr/>
              <a:t>. </a:t>
            </a:r>
            <a:r>
              <a:rPr i="1"/>
              <a:t>PLOS Computational Biology</a:t>
            </a:r>
            <a:r>
              <a:rPr/>
              <a:t> </a:t>
            </a:r>
            <a:r>
              <a:rPr b="1"/>
              <a:t>19</a:t>
            </a:r>
            <a:r>
              <a:rPr/>
              <a:t>, e1011393 (2023).</a:t>
            </a:r>
          </a:p>
          <a:p>
            <a:pPr lvl="0" indent="0" marL="0">
              <a:buNone/>
            </a:pPr>
            <a:r>
              <a:rPr/>
              <a:t>14. Kaack, L. H., Apt, J., Morgan, M. G. &amp; McSharry, P. </a:t>
            </a:r>
            <a:r>
              <a:rPr>
                <a:hlinkClick r:id="rId14"/>
              </a:rPr>
              <a:t>Empirical prediction intervals improve energy forecasting</a:t>
            </a:r>
            <a:r>
              <a:rPr/>
              <a:t>. </a:t>
            </a:r>
            <a:r>
              <a:rPr i="1"/>
              <a:t>Proceedings of the National Academy of Sciences</a:t>
            </a:r>
            <a:r>
              <a:rPr/>
              <a:t> </a:t>
            </a:r>
            <a:r>
              <a:rPr b="1"/>
              <a:t>114</a:t>
            </a:r>
            <a:r>
              <a:rPr/>
              <a:t>, 8752–8757 (2017).</a:t>
            </a:r>
          </a:p>
          <a:p>
            <a:pPr lvl="0" indent="0" marL="0">
              <a:buNone/>
            </a:pPr>
            <a:r>
              <a:rPr/>
              <a:t>15. Berrisch, J. &amp; Ziel, F. </a:t>
            </a:r>
            <a:r>
              <a:rPr>
                <a:hlinkClick r:id="rId15"/>
              </a:rPr>
              <a:t>Multivariate probabilistic CRPS learning with an application to day-ahead electricity prices</a:t>
            </a:r>
            <a:r>
              <a:rPr/>
              <a:t>. </a:t>
            </a:r>
            <a:r>
              <a:rPr i="1"/>
              <a:t>International Journal of Forecasting</a:t>
            </a:r>
            <a:r>
              <a:rPr/>
              <a:t> </a:t>
            </a:r>
            <a:r>
              <a:rPr b="1"/>
              <a:t>40</a:t>
            </a:r>
            <a:r>
              <a:rPr/>
              <a:t>, 1568–1586 (2024).</a:t>
            </a:r>
          </a:p>
          <a:p>
            <a:pPr lvl="0" indent="0" marL="0">
              <a:buNone/>
            </a:pPr>
            <a:r>
              <a:rPr/>
              <a:t>16. Breiman, L., Friedman, J. H., Olshen, R. A. &amp; Stone, C. J. </a:t>
            </a:r>
            <a:r>
              <a:rPr i="1"/>
              <a:t>Classification And Regression Trees</a:t>
            </a:r>
            <a:r>
              <a:rPr/>
              <a:t>. (Routledge, 2017). doi:</a:t>
            </a:r>
            <a:r>
              <a:rPr>
                <a:hlinkClick r:id="rId16"/>
              </a:rPr>
              <a:t>10.1201/9781315139470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17. Meinshausen, N. Quantile regression forests. </a:t>
            </a:r>
            <a:r>
              <a:rPr i="1"/>
              <a:t>J. Mach. Learn. Res.</a:t>
            </a:r>
            <a:r>
              <a:rPr/>
              <a:t> </a:t>
            </a:r>
            <a:r>
              <a:rPr b="1"/>
              <a:t>7</a:t>
            </a:r>
            <a:r>
              <a:rPr/>
              <a:t>, 983–999 (2006).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Miscalibration</dc:title>
  <dc:creator>Dr. F.J. Rodenburg</dc:creator>
  <cp:keywords/>
  <dcterms:created xsi:type="dcterms:W3CDTF">2026-01-26T04:31:39Z</dcterms:created>
  <dcterms:modified xsi:type="dcterms:W3CDTF">2026-01-26T04:31:39Z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references.bib</vt:lpwstr>
  </property>
  <property fmtid="{D5CDD505-2E9C-101B-9397-08002B2CF9AE}" pid="5" name="by-author">
    <vt:lpwstr/>
  </property>
  <property fmtid="{D5CDD505-2E9C-101B-9397-08002B2CF9AE}" pid="6" name="csl">
    <vt:lpwstr>nature.csl</vt:lpwstr>
  </property>
  <property fmtid="{D5CDD505-2E9C-101B-9397-08002B2CF9AE}" pid="7" name="editor">
    <vt:lpwstr>visual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